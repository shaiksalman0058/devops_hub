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68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461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03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29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79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68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44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40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88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36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48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A95FB-6C35-457B-A8AC-36CBB379A4B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ACFD766-73E3-44C7-AE12-79A19D94531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499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dfusion.adobe.com/2026/02/what-is-an-application-server-functions-types-and-web-server-comparison/" TargetMode="External"/><Relationship Id="rId2" Type="http://schemas.openxmlformats.org/officeDocument/2006/relationships/hyperlink" Target="https://www.scribd.com/document/688788807/PPT-1-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estbook.com/key-differences/difference-between-web-server-and-application-server" TargetMode="External"/><Relationship Id="rId5" Type="http://schemas.openxmlformats.org/officeDocument/2006/relationships/hyperlink" Target="https://www.serverbasket.com/help/web-server-and-application-server/" TargetMode="External"/><Relationship Id="rId4" Type="http://schemas.openxmlformats.org/officeDocument/2006/relationships/hyperlink" Target="https://www.geeksforgeeks.org/computer-networks/difference-between-web-server-and-application-server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rverbasket.com/help/web-server-and-application-server/" TargetMode="External"/><Relationship Id="rId3" Type="http://schemas.openxmlformats.org/officeDocument/2006/relationships/hyperlink" Target="https://www.slideshare.net/slideshow/application-server-vs-web-server/42914476" TargetMode="External"/><Relationship Id="rId7" Type="http://schemas.openxmlformats.org/officeDocument/2006/relationships/hyperlink" Target="https://aws.amazon.com/compare/the-difference-between-web-server-and-application-server/" TargetMode="External"/><Relationship Id="rId2" Type="http://schemas.openxmlformats.org/officeDocument/2006/relationships/hyperlink" Target="https://www.geeksforgeeks.org/computer-networks/difference-between-web-server-and-application-server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oyvUYLvZkec&amp;t=75" TargetMode="External"/><Relationship Id="rId5" Type="http://schemas.openxmlformats.org/officeDocument/2006/relationships/hyperlink" Target="https://www.slideshare.net/slideshow/web-servers-3718519/3718519" TargetMode="External"/><Relationship Id="rId4" Type="http://schemas.openxmlformats.org/officeDocument/2006/relationships/hyperlink" Target="https://www.lenovo.com/in/en/glossary/webpage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yara.fish/blog/web-server-vs-application-server-whats-the-difference/" TargetMode="External"/><Relationship Id="rId2" Type="http://schemas.openxmlformats.org/officeDocument/2006/relationships/hyperlink" Target="https://aws.amazon.com/compare/the-difference-between-web-server-and-application-server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ribd.com/document/688788807/PPT-1-HTML" TargetMode="External"/><Relationship Id="rId5" Type="http://schemas.openxmlformats.org/officeDocument/2006/relationships/hyperlink" Target="https://serverscheduler.com/blog/application-server-vs-web-server" TargetMode="External"/><Relationship Id="rId4" Type="http://schemas.openxmlformats.org/officeDocument/2006/relationships/hyperlink" Target="https://www.supportpro.com/blog/application-server-and-web-server-the-difference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6D66-F8CB-6238-DA3D-EA1BFB2CA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917858" cy="3243160"/>
          </a:xfrm>
        </p:spPr>
        <p:txBody>
          <a:bodyPr/>
          <a:lstStyle/>
          <a:p>
            <a:r>
              <a:rPr lang="en-IN" dirty="0" err="1"/>
              <a:t>AppServers</a:t>
            </a:r>
            <a:r>
              <a:rPr lang="en-IN" dirty="0"/>
              <a:t>-and-Web Servers.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1CE8F-E825-7FB6-FF3D-B14745AAB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93174"/>
            <a:ext cx="9144000" cy="5042463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438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5EF793-7581-DBE2-407B-65CD65C0641D}"/>
              </a:ext>
            </a:extLst>
          </p:cNvPr>
          <p:cNvSpPr txBox="1"/>
          <p:nvPr/>
        </p:nvSpPr>
        <p:spPr>
          <a:xfrm>
            <a:off x="1799303" y="811160"/>
            <a:ext cx="850982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b="1" u="none" strike="noStrike" dirty="0">
                <a:effectLst/>
                <a:latin typeface="Google Sans"/>
              </a:rPr>
              <a:t>1: Introduction to Web &amp; Application Servers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Definition</a:t>
            </a:r>
            <a:r>
              <a:rPr lang="en-US" b="0" u="none" strike="noStrike" dirty="0">
                <a:effectLst/>
                <a:latin typeface="Google Sans"/>
              </a:rPr>
              <a:t>: Both are software programs that provide services to clients over a network, but they serve different roles in a typical </a:t>
            </a:r>
            <a:r>
              <a:rPr lang="en-US" b="0" u="none" strike="noStrike" dirty="0">
                <a:effectLst/>
                <a:latin typeface="Google Sans"/>
                <a:hlinkClick r:id="rId2"/>
              </a:rPr>
              <a:t>3-tier architecture</a:t>
            </a:r>
            <a:r>
              <a:rPr lang="en-US" b="0" u="none" strike="noStrike" dirty="0">
                <a:effectLst/>
                <a:latin typeface="Google Sans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Web Server</a:t>
            </a:r>
            <a:r>
              <a:rPr lang="en-US" b="0" u="none" strike="noStrike" dirty="0">
                <a:effectLst/>
                <a:latin typeface="Google Sans"/>
              </a:rPr>
              <a:t>: Primarily handles </a:t>
            </a:r>
            <a:r>
              <a:rPr lang="en-US" b="1" u="none" strike="noStrike" dirty="0">
                <a:effectLst/>
                <a:latin typeface="Google Sans"/>
              </a:rPr>
              <a:t>HTTP/HTTPS requests</a:t>
            </a:r>
            <a:r>
              <a:rPr lang="en-US" b="0" u="none" strike="noStrike" dirty="0">
                <a:effectLst/>
                <a:latin typeface="Google Sans"/>
              </a:rPr>
              <a:t> to deliver static content like HTML, CSS, and images.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Application Server</a:t>
            </a:r>
            <a:r>
              <a:rPr lang="en-US" b="0" u="none" strike="noStrike" dirty="0">
                <a:effectLst/>
                <a:latin typeface="Google Sans"/>
              </a:rPr>
              <a:t>: A software framework that provides an environment to run </a:t>
            </a:r>
            <a:r>
              <a:rPr lang="en-US" b="1" u="none" strike="noStrike" dirty="0">
                <a:effectLst/>
                <a:latin typeface="Google Sans"/>
              </a:rPr>
              <a:t>business logic</a:t>
            </a:r>
            <a:r>
              <a:rPr lang="en-US" b="0" u="none" strike="noStrike" dirty="0">
                <a:effectLst/>
                <a:latin typeface="Google Sans"/>
              </a:rPr>
              <a:t> and dynamic content.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The Key Difference</a:t>
            </a:r>
            <a:r>
              <a:rPr lang="en-US" b="0" u="none" strike="noStrike" dirty="0">
                <a:effectLst/>
                <a:latin typeface="Google Sans"/>
              </a:rPr>
              <a:t>: While a Web Server acts as the "receptionist" for browser requests, the Application Server is the "production floor" where data is processed. [</a:t>
            </a:r>
            <a:r>
              <a:rPr lang="en-US" b="0" u="none" strike="noStrike" dirty="0">
                <a:effectLst/>
                <a:latin typeface="Google Sans"/>
                <a:hlinkClick r:id="rId3"/>
              </a:rPr>
              <a:t>1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2"/>
              </a:rPr>
              <a:t>2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4"/>
              </a:rPr>
              <a:t>3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5"/>
              </a:rPr>
              <a:t>4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6"/>
              </a:rPr>
              <a:t>5</a:t>
            </a:r>
            <a:r>
              <a:rPr lang="en-US" b="0" u="none" strike="noStrike" dirty="0">
                <a:effectLst/>
                <a:latin typeface="Google San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95088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283F77-CEDA-688C-3F25-C2275871C585}"/>
              </a:ext>
            </a:extLst>
          </p:cNvPr>
          <p:cNvSpPr txBox="1"/>
          <p:nvPr/>
        </p:nvSpPr>
        <p:spPr>
          <a:xfrm>
            <a:off x="1401096" y="988142"/>
            <a:ext cx="86720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b="1" u="none" strike="noStrike" dirty="0">
                <a:effectLst/>
                <a:latin typeface="Google Sans"/>
              </a:rPr>
              <a:t>2: Understanding the Web Server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Primary Function</a:t>
            </a:r>
            <a:r>
              <a:rPr lang="en-US" b="0" u="none" strike="noStrike" dirty="0">
                <a:effectLst/>
                <a:latin typeface="Google Sans"/>
              </a:rPr>
              <a:t>: Accepts HTTP requests from clients (browsers) and returns the requested resources.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Content Type</a:t>
            </a:r>
            <a:r>
              <a:rPr lang="en-US" b="0" u="none" strike="noStrike" dirty="0">
                <a:effectLst/>
                <a:latin typeface="Google Sans"/>
              </a:rPr>
              <a:t>: Best suited for </a:t>
            </a:r>
            <a:r>
              <a:rPr lang="en-US" b="1" u="none" strike="noStrike" dirty="0">
                <a:effectLst/>
                <a:latin typeface="Google Sans"/>
              </a:rPr>
              <a:t>static content</a:t>
            </a:r>
            <a:r>
              <a:rPr lang="en-US" b="0" u="none" strike="noStrike" dirty="0">
                <a:effectLst/>
                <a:latin typeface="Google Sans"/>
              </a:rPr>
              <a:t> (e.g., fixed HTML pages, images, and videos).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Capabilities</a:t>
            </a:r>
            <a:r>
              <a:rPr lang="en-US" b="0" u="none" strike="noStrike" dirty="0">
                <a:effectLst/>
                <a:latin typeface="Google Sans"/>
              </a:rPr>
              <a:t>:</a:t>
            </a: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effectLst/>
                <a:latin typeface="Google Sans"/>
              </a:rPr>
              <a:t>Logs server activity and manages request/response headers.</a:t>
            </a: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effectLst/>
                <a:latin typeface="Google Sans"/>
              </a:rPr>
              <a:t>Supports basic server-side scripting like Servlets and JSP.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Examples</a:t>
            </a:r>
            <a:r>
              <a:rPr lang="en-US" b="0" u="none" strike="noStrike" dirty="0">
                <a:effectLst/>
                <a:latin typeface="Google Sans"/>
              </a:rPr>
              <a:t>: </a:t>
            </a:r>
            <a:r>
              <a:rPr lang="en-US" b="0" u="none" strike="noStrike" dirty="0">
                <a:effectLst/>
                <a:latin typeface="Google Sans"/>
                <a:hlinkClick r:id="rId2"/>
              </a:rPr>
              <a:t>Apache HTTP Server</a:t>
            </a:r>
            <a:r>
              <a:rPr lang="en-US" b="0" u="none" strike="noStrike" dirty="0">
                <a:effectLst/>
                <a:latin typeface="Google Sans"/>
              </a:rPr>
              <a:t> and </a:t>
            </a:r>
            <a:r>
              <a:rPr lang="en-US" b="1" u="none" strike="noStrike" dirty="0">
                <a:effectLst/>
                <a:latin typeface="Google Sans"/>
              </a:rPr>
              <a:t>Nginx</a:t>
            </a:r>
            <a:r>
              <a:rPr lang="en-US" b="0" u="none" strike="noStrike" dirty="0">
                <a:effectLst/>
                <a:latin typeface="Google Sans"/>
              </a:rPr>
              <a:t>. [</a:t>
            </a:r>
            <a:r>
              <a:rPr lang="en-US" b="0" u="none" strike="noStrike" dirty="0">
                <a:effectLst/>
                <a:latin typeface="Google Sans"/>
                <a:hlinkClick r:id="rId3"/>
              </a:rPr>
              <a:t>1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4"/>
              </a:rPr>
              <a:t>2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5"/>
              </a:rPr>
              <a:t>3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6"/>
              </a:rPr>
              <a:t>4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7"/>
              </a:rPr>
              <a:t>5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2"/>
              </a:rPr>
              <a:t>6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8"/>
              </a:rPr>
              <a:t>7</a:t>
            </a:r>
            <a:r>
              <a:rPr lang="en-US" b="0" u="none" strike="noStrike" dirty="0">
                <a:effectLst/>
                <a:latin typeface="Google San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5430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E4A3FC-F598-A4B6-016E-792199AF75F0}"/>
              </a:ext>
            </a:extLst>
          </p:cNvPr>
          <p:cNvSpPr txBox="1"/>
          <p:nvPr/>
        </p:nvSpPr>
        <p:spPr>
          <a:xfrm>
            <a:off x="1061884" y="811162"/>
            <a:ext cx="8775289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b="1" u="none" strike="noStrike" dirty="0">
                <a:effectLst/>
                <a:latin typeface="Google Sans"/>
              </a:rPr>
              <a:t>3: How They Work Together (The Flow)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b="1" u="none" strike="noStrike" dirty="0">
                <a:effectLst/>
                <a:latin typeface="Google Sans"/>
              </a:rPr>
              <a:t>Client Request</a:t>
            </a:r>
            <a:r>
              <a:rPr lang="en-US" b="0" u="none" strike="noStrike" dirty="0">
                <a:effectLst/>
                <a:latin typeface="Google Sans"/>
              </a:rPr>
              <a:t>: A user enters a URL in their browser, sending an HTTP request.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b="1" u="none" strike="noStrike" dirty="0">
                <a:effectLst/>
                <a:latin typeface="Google Sans"/>
              </a:rPr>
              <a:t>Web Server Step</a:t>
            </a:r>
            <a:r>
              <a:rPr lang="en-US" b="0" u="none" strike="noStrike" dirty="0">
                <a:effectLst/>
                <a:latin typeface="Google Sans"/>
              </a:rPr>
              <a:t>: The Web Server receives the request. If it’s for a static file (e.g., an image), it returns it immediately.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b="1" u="none" strike="noStrike" dirty="0">
                <a:effectLst/>
                <a:latin typeface="Google Sans"/>
              </a:rPr>
              <a:t>Forwarding</a:t>
            </a:r>
            <a:r>
              <a:rPr lang="en-US" b="0" u="none" strike="noStrike" dirty="0">
                <a:effectLst/>
                <a:latin typeface="Google Sans"/>
              </a:rPr>
              <a:t>: If the request requires complex data (e.g., a "Checkout" action), it is passed to the </a:t>
            </a:r>
            <a:r>
              <a:rPr lang="en-US" b="1" u="none" strike="noStrike" dirty="0">
                <a:effectLst/>
                <a:latin typeface="Google Sans"/>
              </a:rPr>
              <a:t>Application Server</a:t>
            </a:r>
            <a:r>
              <a:rPr lang="en-US" b="0" u="none" strike="noStrike" dirty="0">
                <a:effectLst/>
                <a:latin typeface="Google Sans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b="1" u="none" strike="noStrike" dirty="0">
                <a:effectLst/>
                <a:latin typeface="Google Sans"/>
              </a:rPr>
              <a:t>Processing</a:t>
            </a:r>
            <a:r>
              <a:rPr lang="en-US" b="0" u="none" strike="noStrike" dirty="0">
                <a:effectLst/>
                <a:latin typeface="Google Sans"/>
              </a:rPr>
              <a:t>: The Application Server runs business logic, pulls data from the </a:t>
            </a:r>
            <a:r>
              <a:rPr lang="en-US" b="0" u="none" strike="noStrike" dirty="0">
                <a:effectLst/>
                <a:latin typeface="Google Sans"/>
                <a:hlinkClick r:id="rId2"/>
              </a:rPr>
              <a:t>Database Server</a:t>
            </a:r>
            <a:r>
              <a:rPr lang="en-US" b="0" u="none" strike="noStrike" dirty="0">
                <a:effectLst/>
                <a:latin typeface="Google Sans"/>
              </a:rPr>
              <a:t>, and generates a dynamic HTML page.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b="1" u="none" strike="noStrike" dirty="0">
                <a:effectLst/>
                <a:latin typeface="Google Sans"/>
              </a:rPr>
              <a:t>Response</a:t>
            </a:r>
            <a:r>
              <a:rPr lang="en-US" b="0" u="none" strike="noStrike" dirty="0">
                <a:effectLst/>
                <a:latin typeface="Google Sans"/>
              </a:rPr>
              <a:t>: The result is sent back through the Web Server to the user's browser. [</a:t>
            </a:r>
            <a:r>
              <a:rPr lang="en-US" b="0" u="none" strike="noStrike" dirty="0">
                <a:effectLst/>
                <a:latin typeface="Google Sans"/>
                <a:hlinkClick r:id="rId3"/>
              </a:rPr>
              <a:t>1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4"/>
              </a:rPr>
              <a:t>2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5"/>
              </a:rPr>
              <a:t>3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0" u="none" strike="noStrike" dirty="0">
                <a:effectLst/>
                <a:latin typeface="Google Sans"/>
                <a:hlinkClick r:id="rId6"/>
              </a:rPr>
              <a:t>5</a:t>
            </a:r>
            <a:r>
              <a:rPr lang="en-US" b="0" u="none" strike="noStrike" dirty="0">
                <a:effectLst/>
                <a:latin typeface="Google San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4691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E31ABA-17C8-3309-E838-0C8D0295465C}"/>
              </a:ext>
            </a:extLst>
          </p:cNvPr>
          <p:cNvSpPr txBox="1"/>
          <p:nvPr/>
        </p:nvSpPr>
        <p:spPr>
          <a:xfrm>
            <a:off x="1415845" y="707923"/>
            <a:ext cx="7731842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b="1" u="none" strike="noStrike" dirty="0">
                <a:effectLst/>
                <a:latin typeface="Google Sans"/>
              </a:rPr>
              <a:t>4: Conclusion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Complementary Roles</a:t>
            </a:r>
            <a:r>
              <a:rPr lang="en-US" b="0" u="none" strike="noStrike" dirty="0">
                <a:effectLst/>
                <a:latin typeface="Google Sans"/>
              </a:rPr>
              <a:t>: They are not rivals; they work together to form the backbone of modern web applications.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Separation of Concerns</a:t>
            </a:r>
            <a:r>
              <a:rPr lang="en-US" b="0" u="none" strike="noStrike" dirty="0">
                <a:effectLst/>
                <a:latin typeface="Google Sans"/>
              </a:rPr>
              <a:t>: Web servers handle user traffic and static files, while application servers secure and run heavy business logic.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Scalability</a:t>
            </a:r>
            <a:r>
              <a:rPr lang="en-US" b="0" u="none" strike="noStrike" dirty="0">
                <a:effectLst/>
                <a:latin typeface="Google Sans"/>
              </a:rPr>
              <a:t>: Splitting these roles allows companies to scale their web infrastructure independently from backend data processing.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Modern Shift</a:t>
            </a:r>
            <a:r>
              <a:rPr lang="en-US" b="0" u="none" strike="noStrike" dirty="0">
                <a:effectLst/>
                <a:latin typeface="Google Sans"/>
              </a:rPr>
              <a:t>: While many modern servers now overlap in functionality, understanding their distinct boundaries is critical for system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8880763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</TotalTime>
  <Words>426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Gill Sans MT</vt:lpstr>
      <vt:lpstr>Google Sans</vt:lpstr>
      <vt:lpstr>Gallery</vt:lpstr>
      <vt:lpstr>AppServers-and-Web Servers.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Feroz</dc:creator>
  <cp:lastModifiedBy>Shaik Feroz</cp:lastModifiedBy>
  <cp:revision>2</cp:revision>
  <dcterms:created xsi:type="dcterms:W3CDTF">2026-05-13T10:15:46Z</dcterms:created>
  <dcterms:modified xsi:type="dcterms:W3CDTF">2026-05-13T10:19:06Z</dcterms:modified>
</cp:coreProperties>
</file>